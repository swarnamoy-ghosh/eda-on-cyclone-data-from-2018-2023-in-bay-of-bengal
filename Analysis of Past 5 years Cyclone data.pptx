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2"/>
  </p:notesMasterIdLst>
  <p:sldIdLst>
    <p:sldId id="256" r:id="rId2"/>
    <p:sldId id="258" r:id="rId3"/>
    <p:sldId id="288" r:id="rId4"/>
    <p:sldId id="257" r:id="rId5"/>
    <p:sldId id="285" r:id="rId6"/>
    <p:sldId id="261" r:id="rId7"/>
    <p:sldId id="286" r:id="rId8"/>
    <p:sldId id="262" r:id="rId9"/>
    <p:sldId id="263" r:id="rId10"/>
    <p:sldId id="264" r:id="rId11"/>
    <p:sldId id="268" r:id="rId12"/>
    <p:sldId id="267" r:id="rId13"/>
    <p:sldId id="269" r:id="rId14"/>
    <p:sldId id="273" r:id="rId15"/>
    <p:sldId id="274" r:id="rId16"/>
    <p:sldId id="275" r:id="rId17"/>
    <p:sldId id="276" r:id="rId18"/>
    <p:sldId id="270" r:id="rId19"/>
    <p:sldId id="271" r:id="rId20"/>
    <p:sldId id="284" r:id="rId21"/>
    <p:sldId id="272" r:id="rId22"/>
    <p:sldId id="277" r:id="rId23"/>
    <p:sldId id="278" r:id="rId24"/>
    <p:sldId id="279" r:id="rId25"/>
    <p:sldId id="281" r:id="rId26"/>
    <p:sldId id="282" r:id="rId27"/>
    <p:sldId id="266" r:id="rId28"/>
    <p:sldId id="283" r:id="rId29"/>
    <p:sldId id="260" r:id="rId30"/>
    <p:sldId id="287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920" autoAdjust="0"/>
  </p:normalViewPr>
  <p:slideViewPr>
    <p:cSldViewPr>
      <p:cViewPr>
        <p:scale>
          <a:sx n="98" d="100"/>
          <a:sy n="98" d="100"/>
        </p:scale>
        <p:origin x="11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985086-DCFD-4B82-9561-5D5CAD8E80BF}" type="datetimeFigureOut">
              <a:rPr lang="en-IN" smtClean="0"/>
              <a:t>19-12-2024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BDDF4C-D8B2-449D-9D69-DB1E45FEE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6502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BDDF4C-D8B2-449D-9D69-DB1E45FEEF0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4567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Weak stage of cyclonic activity</a:t>
            </a:r>
          </a:p>
          <a:p>
            <a:r>
              <a:rPr lang="en-US" dirty="0"/>
              <a:t>The wind speed increase with the decrease in Pressure. When the pressure drop is small then wind speed may depend on some other parameters</a:t>
            </a:r>
          </a:p>
          <a:p>
            <a:r>
              <a:rPr lang="en-US" dirty="0"/>
              <a:t>The spread explains the decrease in wind speed , here the wind speed is affected by several other factors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BDDF4C-D8B2-449D-9D69-DB1E45FEEF04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3409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BDDF4C-D8B2-449D-9D69-DB1E45FEEF04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539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034E8-2DF9-4F62-8DA7-6C0BE9306BEF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8104299-EA1C-4C53-9225-7715B0E9F0D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034E8-2DF9-4F62-8DA7-6C0BE9306BEF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B8104299-EA1C-4C53-9225-7715B0E9F0D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034E8-2DF9-4F62-8DA7-6C0BE9306BEF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8104299-EA1C-4C53-9225-7715B0E9F0D1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7A1034E8-2DF9-4F62-8DA7-6C0BE9306BEF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04299-EA1C-4C53-9225-7715B0E9F0D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034E8-2DF9-4F62-8DA7-6C0BE9306BEF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B8104299-EA1C-4C53-9225-7715B0E9F0D1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034E8-2DF9-4F62-8DA7-6C0BE9306BEF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B8104299-EA1C-4C53-9225-7715B0E9F0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034E8-2DF9-4F62-8DA7-6C0BE9306BEF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8104299-EA1C-4C53-9225-7715B0E9F0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8104299-EA1C-4C53-9225-7715B0E9F0D1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034E8-2DF9-4F62-8DA7-6C0BE9306BEF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B8104299-EA1C-4C53-9225-7715B0E9F0D1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7A1034E8-2DF9-4F62-8DA7-6C0BE9306BEF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034E8-2DF9-4F62-8DA7-6C0BE9306BEF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04299-EA1C-4C53-9225-7715B0E9F0D1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B8104299-EA1C-4C53-9225-7715B0E9F0D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034E8-2DF9-4F62-8DA7-6C0BE9306BEF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7A1034E8-2DF9-4F62-8DA7-6C0BE9306BEF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8104299-EA1C-4C53-9225-7715B0E9F0D1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200400"/>
            <a:ext cx="8610600" cy="3276600"/>
          </a:xfrm>
        </p:spPr>
        <p:txBody>
          <a:bodyPr>
            <a:normAutofit fontScale="77500" lnSpcReduction="20000"/>
          </a:bodyPr>
          <a:lstStyle/>
          <a:p>
            <a:pPr algn="r">
              <a:spcBef>
                <a:spcPts val="0"/>
              </a:spcBef>
            </a:pPr>
            <a:r>
              <a:rPr lang="en-IN" sz="23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Swarnamoy</a:t>
            </a:r>
            <a:r>
              <a:rPr lang="en-IN" sz="23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Ghosh    	     </a:t>
            </a:r>
            <a:r>
              <a:rPr lang="en-IN" sz="23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Debargho</a:t>
            </a:r>
            <a:r>
              <a:rPr lang="en-IN" sz="23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Chatterjee Ganguly </a:t>
            </a:r>
          </a:p>
          <a:p>
            <a:pPr>
              <a:spcBef>
                <a:spcPts val="0"/>
              </a:spcBef>
            </a:pPr>
            <a:r>
              <a:rPr lang="en-IN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(PG/05/MSTSTDS/2023/002)	      (PG/05/MSTSTDS/2023/004)</a:t>
            </a:r>
          </a:p>
          <a:p>
            <a:pPr>
              <a:spcBef>
                <a:spcPts val="0"/>
              </a:spcBef>
            </a:pPr>
            <a:endParaRPr lang="en-IN" sz="2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endParaRPr lang="en-IN" sz="2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IN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M.Sc. Tech(Statistics &amp; Data Science)</a:t>
            </a:r>
          </a:p>
          <a:p>
            <a:pPr>
              <a:spcBef>
                <a:spcPts val="0"/>
              </a:spcBef>
            </a:pPr>
            <a:r>
              <a:rPr lang="en-IN" sz="2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Adamas</a:t>
            </a:r>
            <a:r>
              <a:rPr lang="en-IN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University, Kolkata</a:t>
            </a:r>
          </a:p>
          <a:p>
            <a:pPr fontAlgn="base"/>
            <a:endParaRPr lang="en-IN" sz="2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IN" sz="23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pPr fontAlgn="base"/>
            <a:r>
              <a:rPr lang="en-US" sz="23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US" sz="2300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Sudip</a:t>
            </a:r>
            <a:r>
              <a:rPr lang="en-US" sz="23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Jana</a:t>
            </a:r>
            <a:endParaRPr lang="en-US" sz="23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2300" i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  <a:endParaRPr lang="en-US" sz="2300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2300" i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Mathematics</a:t>
            </a:r>
            <a:endParaRPr lang="en-US" sz="2300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2300" i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Adamas University, Kolkata</a:t>
            </a:r>
            <a:endParaRPr lang="en-US" sz="2300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endParaRPr lang="en-IN" dirty="0">
              <a:solidFill>
                <a:schemeClr val="tx1"/>
              </a:solidFill>
              <a:cs typeface="Times New Roman" pitchFamily="18" charset="0"/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533400"/>
            <a:ext cx="7924800" cy="13716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Bookman Old Style" pitchFamily="18" charset="0"/>
              </a:rPr>
              <a:t>ANALYSIS OF CYCLONE TRACK DATA DURING 2018-2022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310C41-36F6-977F-D53F-8F3A9614BF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1979294"/>
            <a:ext cx="1143000" cy="10687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9DEFA0C-6513-5DCD-F8A7-13F58ACEC09F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 bwMode="auto">
          <a:xfrm>
            <a:off x="152400" y="1371600"/>
            <a:ext cx="6074355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Overview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Preprocessing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Findings (Graphs and Statistics)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Cyclone Trends (Annual and Seasonal Insights)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Conclusions and Future Work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2000" t="18000" r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54AE53-1D0B-15FD-6846-377A3D753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9106666-C009-D486-4A81-06E14A99A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2" name="AutoShape 2" descr="Difference Between a Hurricane and a Tropical Cyclone?">
            <a:extLst>
              <a:ext uri="{FF2B5EF4-FFF2-40B4-BE49-F238E27FC236}">
                <a16:creationId xmlns:a16="http://schemas.microsoft.com/office/drawing/2014/main" id="{5C3BBE6B-D542-F486-E933-62B8399B39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1143000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CD7EE9C8-C66A-46D7-8F6E-D30AC82038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638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6000" r="-1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3445E8C-1FA3-2F3F-3A24-334D7D8C0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C6448-0AB2-7AFB-28A2-BBC47D627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636D5-F7A2-A68C-550E-EC334D533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229CE-3443-B3C6-619C-53AAF6E4700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Analyze cyclone data from 2018 to 2022 to uncover patterns and trends.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Focus Areas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Wind speed, central pressure, and cyclone grades.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Seasonal and annual variations.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Geographical distribution of cyclones.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Identify trends and changes in cyclone activity.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Explore relationships between meteorological parameters.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 insights to enhance prediction models and disaster preparedness.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Significance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Establish a foundation for further studies in meteorology and disaster management.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2934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55537-5AFB-6577-C2E1-BB555529E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8FCB0-35B6-F78B-3109-4DF24EC60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260B07-0DF4-C4AC-B887-ABD8FE39DFAF}"/>
              </a:ext>
            </a:extLst>
          </p:cNvPr>
          <p:cNvSpPr txBox="1"/>
          <p:nvPr/>
        </p:nvSpPr>
        <p:spPr>
          <a:xfrm>
            <a:off x="2133600" y="5638800"/>
            <a:ext cx="4876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Excel Data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650895-33F1-8D2B-0366-8528CB235A2C}"/>
              </a:ext>
            </a:extLst>
          </p:cNvPr>
          <p:cNvSpPr txBox="1"/>
          <p:nvPr/>
        </p:nvSpPr>
        <p:spPr>
          <a:xfrm>
            <a:off x="609600" y="1524000"/>
            <a:ext cx="662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Sample of the Original Excel data</a:t>
            </a:r>
            <a:endParaRPr lang="en-IN" dirty="0"/>
          </a:p>
        </p:txBody>
      </p:sp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958B9923-DAD9-B8A9-3618-4562B3D6C1A5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381000" y="1981200"/>
            <a:ext cx="8382000" cy="4343400"/>
          </a:xfrm>
        </p:spPr>
      </p:pic>
    </p:spTree>
    <p:extLst>
      <p:ext uri="{BB962C8B-B14F-4D97-AF65-F5344CB8AC3E}">
        <p14:creationId xmlns:p14="http://schemas.microsoft.com/office/powerpoint/2010/main" val="727318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FD5C9-D7DE-1D11-C5D2-5F3E395ED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A3D62-04CB-2C00-0DAF-BAD0EFD0D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Preprocessing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4F5C87-2FAC-A884-9221-A2264F092C23}"/>
              </a:ext>
            </a:extLst>
          </p:cNvPr>
          <p:cNvSpPr txBox="1"/>
          <p:nvPr/>
        </p:nvSpPr>
        <p:spPr>
          <a:xfrm>
            <a:off x="266700" y="1447800"/>
            <a:ext cx="8610600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Selection of Data for Analysis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subset of data from the last five years (2018–2023) was selected as a representative sample for the exploratory data analysis. This timeframe was chosen to identify recent trends and patterns.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400" b="1" dirty="0">
                <a:latin typeface="Arial" panose="020B0604020202020204" pitchFamily="34" charset="0"/>
              </a:rPr>
              <a:t>2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Addition of a New Column: "O/L"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new column named "O/L" was introduced to the dataset. This column classifies cyclone data into two categories: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Cyclones located over the ocean.</a:t>
            </a:r>
          </a:p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Cyclones located over land.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Imputation of Missing Values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Missing or null values in critical columns such as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Serial Number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were imputed. This step ensures the completeness of the dataset for analysis.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Removal of Non-Numeric Rows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Rows containing textual descriptions (e.g., landfall events or weakening of a cyclone) were identified and removed. This step ensures that only relevant numerical data is retained for statistical and graphical analyses.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Dataframe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Creation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cleaned and preprocessed data was converted into a structured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DataFrame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format. This transformation facilitates efficient analysis and visualization in subsequent steps.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6443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93CEC-00F6-207F-21BD-FCEBA0A49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E69FB-A5FC-11E5-E9DD-FFA36342B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AD3639-53BF-FCC8-DB10-0099334804F0}"/>
              </a:ext>
            </a:extLst>
          </p:cNvPr>
          <p:cNvSpPr txBox="1"/>
          <p:nvPr/>
        </p:nvSpPr>
        <p:spPr>
          <a:xfrm>
            <a:off x="228600" y="1676400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Converted into Python Data frame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9A5AE2C-E8B3-DCAF-5F4A-8383D3126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2286000"/>
            <a:ext cx="86106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626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C7F9A-B97B-2A73-61B1-78D123C7C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5D9E2-3558-C5D8-A950-1CBFC0CC8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80C0978-C252-BE33-9C78-41C722DA7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971020"/>
            <a:ext cx="8382000" cy="4124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Serial Number of System During Year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unique identifier assigned to each cyclone within a specific year.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Basin of Origin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region where the cyclone originated (e.g., Bay of Bengal, Arabian Sea).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official name of the cyclone, assigned by meteorological agencies.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 (DD-MM-YYYY)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specific date when the cyclone was recorded.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 (UTC)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time (in Coordinated Universal Time) when the observation was made.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Latitude (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geographical latitude indicating the cyclone's location.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Longitude (long)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geographical longitude indicating the cyclone's location.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1511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3C6E7-72EE-EE10-E343-B58896548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02010-7842-2270-3627-AABFDA3FD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B1DD0A6-2DF3-0FD6-BE14-F6DE57B1D1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386518"/>
            <a:ext cx="8382000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 No [or "T. No"]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Cyclone Intensity Number, indicating the cyclone's intensity at the time of observation.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Estimated Central Pressure (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hPa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[or "E.C.P."]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central atmospheric pressure of the cyclone, measured in hectopascals 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hPa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Maximum Sustained Surface Wind (kt)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maximum wind speed near the cyclone's center, measured in knots (kt).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Pressure Drop (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hPa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[or "ΔP"]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difference between the ambient pressure and the cyclone's central pressure.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Grade (text)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classification of the cyclone based on its intensity (e.g., Depression, Cyclonic Storm, Severe Cyclonic Storm).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O/L (Ocean/Land)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Indicates whether the cyclone is over the ocean (O) or land (L).</a:t>
            </a:r>
          </a:p>
        </p:txBody>
      </p:sp>
    </p:spTree>
    <p:extLst>
      <p:ext uri="{BB962C8B-B14F-4D97-AF65-F5344CB8AC3E}">
        <p14:creationId xmlns:p14="http://schemas.microsoft.com/office/powerpoint/2010/main" val="1458313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EEBD5-E302-F623-C096-54C65E34F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41ADA-2248-315D-7064-5228754A6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Findings 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7F9B2F-7374-3353-8FE6-D464CCC8AD4C}"/>
              </a:ext>
            </a:extLst>
          </p:cNvPr>
          <p:cNvSpPr txBox="1"/>
          <p:nvPr/>
        </p:nvSpPr>
        <p:spPr>
          <a:xfrm>
            <a:off x="1600200" y="1447800"/>
            <a:ext cx="5943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Stacked Bar Chart of Cyclonic Stages of 2018-22 </a:t>
            </a:r>
            <a:endParaRPr lang="en-IN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CFFAD614-4A12-16D4-FD0D-A389E36B97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35"/>
          <a:stretch/>
        </p:blipFill>
        <p:spPr bwMode="auto">
          <a:xfrm>
            <a:off x="228600" y="1927860"/>
            <a:ext cx="8686800" cy="4168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2008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FBD74-2518-DE68-47E5-F63C81BBF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4D774-99EF-11D3-EB79-29E42BDE9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Findings(Based on Years) 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4DDC11-A760-2BDF-26B3-0C5E967D1C7A}"/>
              </a:ext>
            </a:extLst>
          </p:cNvPr>
          <p:cNvSpPr txBox="1"/>
          <p:nvPr/>
        </p:nvSpPr>
        <p:spPr>
          <a:xfrm>
            <a:off x="1600200" y="1600200"/>
            <a:ext cx="5943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Grade Counts of Cyclonic Events In Each Year</a:t>
            </a:r>
            <a:endParaRPr lang="en-IN" dirty="0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457C5028-96E4-AA83-C299-D12D0882FF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86"/>
          <a:stretch/>
        </p:blipFill>
        <p:spPr bwMode="auto">
          <a:xfrm>
            <a:off x="685800" y="1981200"/>
            <a:ext cx="7772400" cy="4355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6258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F52C0-E18D-2979-A438-BBBDBD01C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4BD6B-9912-B6AB-E4A6-B70A91A1C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Findings  </a:t>
            </a:r>
            <a:endParaRPr lang="en-US" dirty="0"/>
          </a:p>
        </p:txBody>
      </p:sp>
      <p:pic>
        <p:nvPicPr>
          <p:cNvPr id="7174" name="Picture 6">
            <a:extLst>
              <a:ext uri="{FF2B5EF4-FFF2-40B4-BE49-F238E27FC236}">
                <a16:creationId xmlns:a16="http://schemas.microsoft.com/office/drawing/2014/main" id="{DD6FC741-7F4B-31B2-F8B4-DF7A3F8CA1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18"/>
          <a:stretch/>
        </p:blipFill>
        <p:spPr bwMode="auto">
          <a:xfrm>
            <a:off x="279400" y="2057400"/>
            <a:ext cx="8585200" cy="409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56E2A6-6C05-E56C-8C06-EDB22C55EB5F}"/>
              </a:ext>
            </a:extLst>
          </p:cNvPr>
          <p:cNvSpPr txBox="1"/>
          <p:nvPr/>
        </p:nvSpPr>
        <p:spPr>
          <a:xfrm>
            <a:off x="1828800" y="1600200"/>
            <a:ext cx="518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Grade Counts of Cyclonic Events In Year 2018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1623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61211-CE80-D626-7DAA-95A1035DD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F5F50-53A3-27A9-52BF-5FDE395A2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Findings  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A271C-E8B3-4011-820B-2EF388C0EBA3}"/>
              </a:ext>
            </a:extLst>
          </p:cNvPr>
          <p:cNvSpPr txBox="1"/>
          <p:nvPr/>
        </p:nvSpPr>
        <p:spPr>
          <a:xfrm>
            <a:off x="1600200" y="1600200"/>
            <a:ext cx="5943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Grade Counts of Cyclonic Events In Year 2019</a:t>
            </a:r>
            <a:endParaRPr lang="en-IN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35D13FD9-1FE0-4005-3A29-FFCA1D2B75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67"/>
          <a:stretch/>
        </p:blipFill>
        <p:spPr bwMode="auto">
          <a:xfrm>
            <a:off x="279400" y="1981200"/>
            <a:ext cx="8585200" cy="4343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4751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11788-6A41-0DB4-A5F2-1F0B6AAF7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60745-8DFC-299A-98B1-D1CFB54EE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Findings  </a:t>
            </a:r>
            <a:endParaRPr lang="en-US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0657F1B9-BE51-8597-72F4-24B3636496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69"/>
          <a:stretch/>
        </p:blipFill>
        <p:spPr bwMode="auto">
          <a:xfrm>
            <a:off x="279400" y="1905000"/>
            <a:ext cx="8585200" cy="4343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A3912D-33C2-7F1C-ED55-F84C1E70F114}"/>
              </a:ext>
            </a:extLst>
          </p:cNvPr>
          <p:cNvSpPr txBox="1"/>
          <p:nvPr/>
        </p:nvSpPr>
        <p:spPr>
          <a:xfrm>
            <a:off x="1600200" y="1524000"/>
            <a:ext cx="59436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/>
              <a:t>Grade Counts of Cyclonic Events In Year 2020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37110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FE36C-AD1B-9E75-5CE0-FC6EF3D3C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DF2E3-848C-762A-D117-3E6B24B70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Findings  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74C7CD-0D99-7A30-1203-33D9E556322D}"/>
              </a:ext>
            </a:extLst>
          </p:cNvPr>
          <p:cNvSpPr txBox="1"/>
          <p:nvPr/>
        </p:nvSpPr>
        <p:spPr>
          <a:xfrm>
            <a:off x="1600200" y="1600200"/>
            <a:ext cx="594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Grade Counts of Cyclonic Events In Year 2021</a:t>
            </a:r>
            <a:endParaRPr lang="en-IN" dirty="0"/>
          </a:p>
          <a:p>
            <a:pPr algn="ctr"/>
            <a:endParaRPr lang="en-IN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F71E9DF5-BC56-A8BA-B178-97E0772AA1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98"/>
          <a:stretch/>
        </p:blipFill>
        <p:spPr bwMode="auto">
          <a:xfrm>
            <a:off x="279400" y="1981200"/>
            <a:ext cx="8585200" cy="4267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97908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8ADB3-96F7-2DDF-1F9B-B68778B99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7765A-0312-2210-47DA-C9537696E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Findings  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13195B-9E27-0BB1-BB2C-AE378CEC6387}"/>
              </a:ext>
            </a:extLst>
          </p:cNvPr>
          <p:cNvSpPr txBox="1"/>
          <p:nvPr/>
        </p:nvSpPr>
        <p:spPr>
          <a:xfrm>
            <a:off x="1600200" y="1600200"/>
            <a:ext cx="594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Grade Counts of Cyclonic Events In Year 2022</a:t>
            </a:r>
            <a:endParaRPr lang="en-IN" dirty="0"/>
          </a:p>
          <a:p>
            <a:pPr algn="ctr"/>
            <a:endParaRPr lang="en-IN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B15756CD-E971-AECD-E13F-08EA383B6A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51"/>
          <a:stretch/>
        </p:blipFill>
        <p:spPr bwMode="auto">
          <a:xfrm>
            <a:off x="279400" y="1981200"/>
            <a:ext cx="8585200" cy="4267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78008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2D19B-D281-EDDA-32DC-FB245DE7D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78FFA-D0F6-DF9C-2040-BF55B6442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Findings(Based on Season)  </a:t>
            </a:r>
            <a:endParaRPr 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4686F67B-3C24-2180-1E69-D88DAB51C3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35"/>
          <a:stretch/>
        </p:blipFill>
        <p:spPr bwMode="auto">
          <a:xfrm>
            <a:off x="609600" y="2057400"/>
            <a:ext cx="7924800" cy="3944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4CFEC0-4DF4-1B5C-C6C2-289F99A061AE}"/>
              </a:ext>
            </a:extLst>
          </p:cNvPr>
          <p:cNvSpPr txBox="1"/>
          <p:nvPr/>
        </p:nvSpPr>
        <p:spPr>
          <a:xfrm>
            <a:off x="1181100" y="1600200"/>
            <a:ext cx="67818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/>
              <a:t>Overall Cyclonic Events Counts By Season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28695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C1261-FF84-43F4-9057-5DCDF3237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FB419-57F5-126E-7CCA-1DA5E360F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Findings  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8530BD-BCD3-71D2-7138-8211393A2D39}"/>
              </a:ext>
            </a:extLst>
          </p:cNvPr>
          <p:cNvSpPr txBox="1"/>
          <p:nvPr/>
        </p:nvSpPr>
        <p:spPr>
          <a:xfrm>
            <a:off x="1143000" y="1600200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No. of Cyclonic Events Based On Season</a:t>
            </a:r>
            <a:endParaRPr lang="en-IN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C51A4D58-AEE5-C676-5F25-38D9AAD6D5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84"/>
          <a:stretch/>
        </p:blipFill>
        <p:spPr bwMode="auto">
          <a:xfrm>
            <a:off x="304800" y="2198450"/>
            <a:ext cx="8534400" cy="3973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21027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DC0C7-F509-26E7-44B2-0F3C146B1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8985A-E163-6179-8354-5C91293F4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Findings  </a:t>
            </a:r>
            <a:endParaRPr lang="en-US" dirty="0"/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250488E3-3EAE-A69D-D2BE-0048F06432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2"/>
          <a:stretch/>
        </p:blipFill>
        <p:spPr bwMode="auto">
          <a:xfrm>
            <a:off x="304800" y="1905000"/>
            <a:ext cx="8534400" cy="4419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47560C-33BF-4012-7BBF-B17BC85D573D}"/>
              </a:ext>
            </a:extLst>
          </p:cNvPr>
          <p:cNvSpPr txBox="1"/>
          <p:nvPr/>
        </p:nvSpPr>
        <p:spPr>
          <a:xfrm>
            <a:off x="1943100" y="1524000"/>
            <a:ext cx="52578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Distribution of Cyclonic Grades Based On Season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36330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B31DB-D91E-B70D-3EB3-AEAC89F83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8EA0B-1CB5-77D0-BAEE-7D2BCDE3A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Findings  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1B5646-475A-CE90-1A68-ACE373E21BA9}"/>
              </a:ext>
            </a:extLst>
          </p:cNvPr>
          <p:cNvSpPr txBox="1"/>
          <p:nvPr/>
        </p:nvSpPr>
        <p:spPr>
          <a:xfrm>
            <a:off x="1600200" y="1600200"/>
            <a:ext cx="5943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Bar Chart of All Cyclonic Events on Monsoon Season</a:t>
            </a:r>
            <a:endParaRPr lang="en-IN" dirty="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B0315D06-08E8-B771-7705-79F1DA1E5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00" y="1981200"/>
            <a:ext cx="8585200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40980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DA9AC-E96C-4D6A-D52F-680C6F401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8FE18-0EB5-0BF2-C21B-071835A8F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Findings  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244C57-9245-5E9A-07E8-05493494435A}"/>
              </a:ext>
            </a:extLst>
          </p:cNvPr>
          <p:cNvSpPr txBox="1"/>
          <p:nvPr/>
        </p:nvSpPr>
        <p:spPr>
          <a:xfrm>
            <a:off x="609600" y="1600200"/>
            <a:ext cx="79248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/>
              <a:t>Bar Chart of All Cyclonic Events on Pre-Monsoon Season</a:t>
            </a:r>
            <a:endParaRPr lang="en-IN" dirty="0"/>
          </a:p>
          <a:p>
            <a:pPr algn="ctr"/>
            <a:endParaRPr lang="en-IN" dirty="0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136A45F3-A2CD-0202-2E90-3F65552392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00" y="1981200"/>
            <a:ext cx="8585200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41846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FD8A3-D9CA-6D75-7E00-91AD69431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1A514-2B3B-8B65-3F04-EF76DD0A5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Findings  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35220B-5013-4D20-0643-9C6ED55824B4}"/>
              </a:ext>
            </a:extLst>
          </p:cNvPr>
          <p:cNvSpPr txBox="1"/>
          <p:nvPr/>
        </p:nvSpPr>
        <p:spPr>
          <a:xfrm>
            <a:off x="1295400" y="1524000"/>
            <a:ext cx="65532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/>
              <a:t>Bar Chart of All Cyclonic Events in Post-Monsoon Season</a:t>
            </a:r>
            <a:endParaRPr lang="en-IN" dirty="0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7C0E71EC-9FBF-7839-2544-3987EC14DC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38" y="1981200"/>
            <a:ext cx="8567737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05185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B3492-DFD1-E671-C0E2-97B77E22B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699C4-6205-7465-0B3B-EF25EBD09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Findings  </a:t>
            </a:r>
            <a:endParaRPr lang="en-US" dirty="0"/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30F450BD-7549-ED4C-00B6-C880489F27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00" y="1981200"/>
            <a:ext cx="8585200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07C8F9-D67E-CB63-73C4-E0F18D16773C}"/>
              </a:ext>
            </a:extLst>
          </p:cNvPr>
          <p:cNvSpPr txBox="1"/>
          <p:nvPr/>
        </p:nvSpPr>
        <p:spPr>
          <a:xfrm>
            <a:off x="1257300" y="1524000"/>
            <a:ext cx="66294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/>
              <a:t>Bar Chart of All Cyclonic Events on Winter Season</a:t>
            </a:r>
            <a:endParaRPr lang="en-IN" dirty="0"/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31275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F56B7-B01B-E3EA-8F76-CA4B976C7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186DB-1665-01AC-B441-4A6529C7D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Findings  </a:t>
            </a:r>
            <a:endParaRPr lang="en-US" dirty="0"/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7F9C4A22-57BF-C688-3446-B424278C9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600199"/>
            <a:ext cx="8534400" cy="4724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34395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0A2DB-6F1E-652F-BD72-6A1D81431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664E6-AD22-3263-037C-06CBD0CF2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Findings  </a:t>
            </a:r>
            <a:endParaRPr lang="en-US" dirty="0"/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4BE7D2EA-8A2A-44B6-B5DB-35734A1C2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600200"/>
            <a:ext cx="8534400" cy="469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99265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E2EFF-3EB7-FA01-1D5A-A9D73E846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6E7AF-D57B-704B-7B40-C9EAA81D8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Findings  </a:t>
            </a:r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AB214A6-2EC4-619D-D802-20A1AFB7FB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199" y="2133601"/>
            <a:ext cx="5943601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D7647F-EE74-71E2-AE4E-7DC7FB6EE797}"/>
              </a:ext>
            </a:extLst>
          </p:cNvPr>
          <p:cNvSpPr txBox="1"/>
          <p:nvPr/>
        </p:nvSpPr>
        <p:spPr>
          <a:xfrm>
            <a:off x="1600200" y="1600200"/>
            <a:ext cx="5943600" cy="381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/>
              <a:t>Correlation heatmap for multivariate analysis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36507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EB647-3A48-1456-F5B3-AC53FFF46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A402E-1292-3AD7-6B12-93120BEB9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conclusion 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E02550D-2707-E58C-E7B7-3DDD6CFFA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568679"/>
            <a:ext cx="8686800" cy="461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Depressions and Cyclone Formation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While many depressions form annually, only a small fraction intensifies into cyclonic storms. This highlights the variability in atmospheric and oceanic conditions required for cyclone development.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Regional Differences in Cyclone Activity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Bay of Bengal consistently records a higher number of cyclones compared to the Arabian Sea. This disparity is due to factors such as warmer sea surface temperatures and favorable wind patterns in the Bay of Bengal.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Seasonal Cyclone Trends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Post-Monsoon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season (October to December) witnesses the maximum number of cyclones. This period is marked by conducive conditions for cyclone formation, including reduced wind shear and warmer waters.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Cyclone Intensity vs. Duration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total lifespan of a cyclone does not always correspond to its peak intensity. Factors such as environmental conditions, interaction with land, and ocean heat content influence a cyclone’s intensity.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Occurrence of Super Cyclonic Storms (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SuCS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 the past five years, only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 Super Cyclonic Storms (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SuCS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have been recorded, underscoring their rarity and the extreme conditions required for their formation.</a:t>
            </a:r>
          </a:p>
        </p:txBody>
      </p:sp>
    </p:spTree>
    <p:extLst>
      <p:ext uri="{BB962C8B-B14F-4D97-AF65-F5344CB8AC3E}">
        <p14:creationId xmlns:p14="http://schemas.microsoft.com/office/powerpoint/2010/main" val="4227329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000" dirty="0" err="1"/>
              <a:t>Mondal</a:t>
            </a:r>
            <a:r>
              <a:rPr lang="en-US" sz="2000" dirty="0"/>
              <a:t>, M., </a:t>
            </a:r>
            <a:r>
              <a:rPr lang="en-US" sz="2000" dirty="0" err="1"/>
              <a:t>Biswas</a:t>
            </a:r>
            <a:r>
              <a:rPr lang="en-US" sz="2000" dirty="0"/>
              <a:t>, A., </a:t>
            </a:r>
            <a:r>
              <a:rPr lang="en-US" sz="2000" dirty="0" err="1"/>
              <a:t>Haldar</a:t>
            </a:r>
            <a:r>
              <a:rPr lang="en-US" sz="2000" dirty="0"/>
              <a:t>, S., </a:t>
            </a:r>
            <a:r>
              <a:rPr lang="en-US" sz="2000" dirty="0" err="1"/>
              <a:t>Mandal</a:t>
            </a:r>
            <a:r>
              <a:rPr lang="en-US" sz="2000" dirty="0"/>
              <a:t>, S., Bhattacharya, S., &amp; Paul, S. (2022). “</a:t>
            </a:r>
            <a:r>
              <a:rPr lang="en-US" sz="2000" dirty="0" err="1"/>
              <a:t>Spatio</a:t>
            </a:r>
            <a:r>
              <a:rPr lang="en-US" sz="2000" dirty="0"/>
              <a:t>-temporal </a:t>
            </a:r>
            <a:r>
              <a:rPr lang="en-US" sz="2000" dirty="0" err="1"/>
              <a:t>behaviours</a:t>
            </a:r>
            <a:r>
              <a:rPr lang="en-US" sz="2000" dirty="0"/>
              <a:t> of tropical cyclones over the bay of Bengal Basin in last five decades”. </a:t>
            </a:r>
            <a:r>
              <a:rPr lang="en-US" sz="2000" i="1" dirty="0"/>
              <a:t>Tropical Cyclone Research and Review</a:t>
            </a:r>
            <a:r>
              <a:rPr lang="en-US" sz="2000" dirty="0"/>
              <a:t>, </a:t>
            </a:r>
            <a:r>
              <a:rPr lang="en-US" sz="2000" i="1" dirty="0"/>
              <a:t>11</a:t>
            </a:r>
            <a:r>
              <a:rPr lang="en-US" sz="2000" dirty="0"/>
              <a:t>(1), 1-15.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EF6ED-C44F-AD5F-8D26-FA2BE8736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D79A4-7F5B-CEC2-DB79-90B1EE93F06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20040" y="1143000"/>
            <a:ext cx="8503920" cy="4572000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6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480522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307</TotalTime>
  <Words>1133</Words>
  <Application>Microsoft Office PowerPoint</Application>
  <PresentationFormat>On-screen Show (4:3)</PresentationFormat>
  <Paragraphs>148</Paragraphs>
  <Slides>30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Arial</vt:lpstr>
      <vt:lpstr>Bookman Old Style</vt:lpstr>
      <vt:lpstr>Calibri</vt:lpstr>
      <vt:lpstr>Georgia</vt:lpstr>
      <vt:lpstr>Times New Roman</vt:lpstr>
      <vt:lpstr>Wingdings</vt:lpstr>
      <vt:lpstr>Wingdings 2</vt:lpstr>
      <vt:lpstr>Civic</vt:lpstr>
      <vt:lpstr>ANALYSIS OF CYCLONE TRACK DATA DURING 2018-2022</vt:lpstr>
      <vt:lpstr>Outline</vt:lpstr>
      <vt:lpstr>Introduction</vt:lpstr>
      <vt:lpstr>Introduction</vt:lpstr>
      <vt:lpstr>Introduction</vt:lpstr>
      <vt:lpstr>Dataset Overview</vt:lpstr>
      <vt:lpstr>Dataset Preprocessing</vt:lpstr>
      <vt:lpstr>Dataset Overview</vt:lpstr>
      <vt:lpstr>Dataset Overview</vt:lpstr>
      <vt:lpstr>Dataset Overview</vt:lpstr>
      <vt:lpstr>Key Findings </vt:lpstr>
      <vt:lpstr>Key Findings(Based on Years) </vt:lpstr>
      <vt:lpstr>Key Findings  </vt:lpstr>
      <vt:lpstr>Key Findings  </vt:lpstr>
      <vt:lpstr>Key Findings  </vt:lpstr>
      <vt:lpstr>Key Findings  </vt:lpstr>
      <vt:lpstr>Key Findings  </vt:lpstr>
      <vt:lpstr>Key Findings(Based on Season)  </vt:lpstr>
      <vt:lpstr>Key Findings  </vt:lpstr>
      <vt:lpstr>Key Findings  </vt:lpstr>
      <vt:lpstr>Key Findings  </vt:lpstr>
      <vt:lpstr>Key Findings  </vt:lpstr>
      <vt:lpstr>Key Findings  </vt:lpstr>
      <vt:lpstr>Key Findings  </vt:lpstr>
      <vt:lpstr>Key Findings  </vt:lpstr>
      <vt:lpstr>Key Findings  </vt:lpstr>
      <vt:lpstr>Key Findings  </vt:lpstr>
      <vt:lpstr> conclusion 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of Past 50 years Cyclone data</dc:title>
  <dc:creator>DELL</dc:creator>
  <cp:lastModifiedBy>ronku ghosh</cp:lastModifiedBy>
  <cp:revision>15</cp:revision>
  <dcterms:created xsi:type="dcterms:W3CDTF">2024-12-19T05:11:32Z</dcterms:created>
  <dcterms:modified xsi:type="dcterms:W3CDTF">2024-12-19T10:24:21Z</dcterms:modified>
</cp:coreProperties>
</file>